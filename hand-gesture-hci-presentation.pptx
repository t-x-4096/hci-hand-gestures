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HCI / COMPUTER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 Gesture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HCI.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your computer with seven hand gestures. MediaPipe + rule-based classification + pyautogui. No ML training.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6035040"/>
            <a:ext cx="10881360" cy="0"/>
          </a:xfrm>
          <a:prstGeom prst="line">
            <a:avLst/>
          </a:prstGeom>
          <a:noFill/>
          <a:ln w="12700">
            <a:solidFill>
              <a:srgbClr val="2A2D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172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T-X-4096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6172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 ·  python  ·  opencv  ·  mediapipe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touch a keyboard for everything?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5486400" cy="347472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2011680"/>
            <a:ext cx="5486400" cy="347472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 POINT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Hands-free moments are common.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Cooking, lifting, presenting, watching a video across the room. Existing solutions need a remote, a phone, or voice — none feel direct.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OPPORTUNITY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92240" y="25146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webcam already sees your hand.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33832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landmark detectors run real-time on CPU. The gestures we use every day map cleanly to media controls — no training, no setup.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Gesture HCI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WHAT IT DOES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Seven gestures. Direct system control.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97480" cy="182880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945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Fist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pause / play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920240"/>
            <a:ext cx="2697480" cy="182880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19456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Palm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474720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scroll down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1920240"/>
            <a:ext cx="2697480" cy="182880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9456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Thumb up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309360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 up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961120" y="1920240"/>
            <a:ext cx="2697480" cy="182880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219456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Thumb down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9144000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 down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3886200"/>
            <a:ext cx="2697480" cy="182880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60520"/>
            <a:ext cx="640080" cy="6400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0080" y="4892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Point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640080" y="5257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cursor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291840" y="3886200"/>
            <a:ext cx="2697480" cy="182880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4160520"/>
            <a:ext cx="640080" cy="6400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474720" y="4892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Peace</a:t>
            </a:r>
            <a:endParaRPr lang="en-US" sz="1800" dirty="0"/>
          </a:p>
        </p:txBody>
      </p:sp>
      <p:sp>
        <p:nvSpPr>
          <p:cNvPr id="27" name="Text 19"/>
          <p:cNvSpPr/>
          <p:nvPr/>
        </p:nvSpPr>
        <p:spPr>
          <a:xfrm>
            <a:off x="3474720" y="5257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scroll up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126480" y="3886200"/>
            <a:ext cx="2697480" cy="182880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4160520"/>
            <a:ext cx="640080" cy="6400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309360" y="4892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Pinch</a:t>
            </a:r>
            <a:endParaRPr lang="en-US" sz="1800" dirty="0"/>
          </a:p>
        </p:txBody>
      </p:sp>
      <p:sp>
        <p:nvSpPr>
          <p:cNvPr id="31" name="Text 22"/>
          <p:cNvSpPr/>
          <p:nvPr/>
        </p:nvSpPr>
        <p:spPr>
          <a:xfrm>
            <a:off x="6309360" y="5257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click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8961120" y="3886200"/>
            <a:ext cx="2697480" cy="1828800"/>
          </a:xfrm>
          <a:prstGeom prst="rect">
            <a:avLst/>
          </a:prstGeom>
          <a:solidFill>
            <a:srgbClr val="0E0F12"/>
          </a:solidFill>
          <a:ln w="12700">
            <a:solidFill>
              <a:srgbClr val="2A2D34"/>
            </a:solidFill>
            <a:prstDash val="dash"/>
          </a:ln>
        </p:spPr>
      </p:sp>
      <p:sp>
        <p:nvSpPr>
          <p:cNvPr id="33" name="Text 24"/>
          <p:cNvSpPr/>
          <p:nvPr/>
        </p:nvSpPr>
        <p:spPr>
          <a:xfrm>
            <a:off x="9144000" y="4663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add your own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Gesture HCI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· 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Frame in, OS event out — five stages.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2011680" cy="237744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194560"/>
            <a:ext cx="201168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2606040"/>
            <a:ext cx="640080" cy="64008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7432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Capture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3291840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34640" y="2194560"/>
            <a:ext cx="2011680" cy="237744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834640" y="2194560"/>
            <a:ext cx="201168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520440" y="2606040"/>
            <a:ext cx="640080" cy="64008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7432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83464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83464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92608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Hands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91840"/>
            <a:ext cx="182880" cy="1828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74920" y="2194560"/>
            <a:ext cx="2011680" cy="237744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074920" y="2194560"/>
            <a:ext cx="201168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760720" y="2606040"/>
            <a:ext cx="640080" cy="64008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274320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07492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507492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Classify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516636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rules</a:t>
            </a:r>
            <a:endParaRPr lang="en-US" sz="11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3291840"/>
            <a:ext cx="182880" cy="18288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315200" y="2194560"/>
            <a:ext cx="2011680" cy="237744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315200" y="2194560"/>
            <a:ext cx="201168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8001000" y="2606040"/>
            <a:ext cx="640080" cy="64008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2743200"/>
            <a:ext cx="365760" cy="36576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31520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731520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</a:t>
            </a:r>
            <a:endParaRPr lang="en-US" sz="1800" dirty="0"/>
          </a:p>
        </p:txBody>
      </p:sp>
      <p:sp>
        <p:nvSpPr>
          <p:cNvPr id="34" name="Text 25"/>
          <p:cNvSpPr/>
          <p:nvPr/>
        </p:nvSpPr>
        <p:spPr>
          <a:xfrm>
            <a:off x="740664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+ rate-limit</a:t>
            </a:r>
            <a:endParaRPr lang="en-US" sz="11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5168" y="3291840"/>
            <a:ext cx="182880" cy="18288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9555480" y="2194560"/>
            <a:ext cx="2011680" cy="237744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9555480" y="2194560"/>
            <a:ext cx="201168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10241280" y="2606040"/>
            <a:ext cx="640080" cy="64008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78440" y="2743200"/>
            <a:ext cx="365760" cy="36576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955548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955548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Execute</a:t>
            </a:r>
            <a:endParaRPr lang="en-US" sz="1800" dirty="0"/>
          </a:p>
        </p:txBody>
      </p:sp>
      <p:sp>
        <p:nvSpPr>
          <p:cNvPr id="42" name="Text 31"/>
          <p:cNvSpPr/>
          <p:nvPr/>
        </p:nvSpPr>
        <p:spPr>
          <a:xfrm>
            <a:off x="964692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pyautogui / amixer</a:t>
            </a:r>
            <a:endParaRPr lang="en-US" sz="1100" dirty="0"/>
          </a:p>
        </p:txBody>
      </p:sp>
      <p:sp>
        <p:nvSpPr>
          <p:cNvPr id="43" name="Text 32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at ~30 fps. CPU-only. No GPU, no model training, no calibration.</a:t>
            </a:r>
            <a:endParaRPr lang="en-US" sz="1400" dirty="0"/>
          </a:p>
        </p:txBody>
      </p:sp>
      <p:sp>
        <p:nvSpPr>
          <p:cNvPr id="44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Gesture HCI</a:t>
            </a:r>
            <a:endParaRPr lang="en-US" sz="1000" dirty="0"/>
          </a:p>
        </p:txBody>
      </p:sp>
      <p:sp>
        <p:nvSpPr>
          <p:cNvPr id="45" name="Text 3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·  CLASSIFICATION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Geometry, not machine learning.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6400800" cy="411480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03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rule: index_finger_extended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5943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_fingers_up(landmarks):
</a:t>
            </a:r>
            <a:pPr indent="0" marL="0">
              <a:buNone/>
            </a:pPr>
            <a:r>
              <a:rPr lang="en-US" sz="1300" dirty="0">
                <a:solidFill>
                  <a:srgbClr val="E6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
</a:t>
            </a:r>
            <a:pPr indent="0" marL="0">
              <a:buNone/>
            </a:pPr>
            <a:r>
              <a:rPr lang="en-US" sz="1300" dirty="0">
                <a:solidFill>
                  <a:srgbClr val="1F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landmarks[t][1] &lt; landmarks[p][1]
</a:t>
            </a:r>
            <a:pPr indent="0" marL="0">
              <a:buNone/>
            </a:pPr>
            <a:r>
              <a:rPr lang="en-US" sz="1300" dirty="0">
                <a:solidFill>
                  <a:srgbClr val="E6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t, p in _FINGERS
</a:t>
            </a:r>
            <a:pPr indent="0" marL="0">
              <a:buNone/>
            </a:pPr>
            <a:r>
              <a:rPr lang="en-US" sz="1300" dirty="0">
                <a:solidFill>
                  <a:srgbClr val="E6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
</a:t>
            </a:r>
            <a:pPr indent="0" marL="0">
              <a:buNone/>
            </a:pPr>
            <a:r>
              <a:rPr lang="en-US" sz="130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pinch: thumb tip near index tip,
</a:t>
            </a:r>
            <a:pPr indent="0" marL="0">
              <a:buNone/>
            </a:pPr>
            <a:r>
              <a:rPr lang="en-US" sz="130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AND index extended (rejects fist)
</a:t>
            </a:r>
            <a:pPr indent="0" marL="0">
              <a:buNone/>
            </a:pPr>
            <a:r>
              <a:rPr lang="en-US" sz="1300" dirty="0">
                <a:solidFill>
                  <a:srgbClr val="1F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pinch_dist &lt; 0.06 and index_up:
</a:t>
            </a:r>
            <a:pPr indent="0" marL="0">
              <a:buNone/>
            </a:pPr>
            <a:r>
              <a:rPr lang="en-US" sz="1300" dirty="0">
                <a:solidFill>
                  <a:srgbClr val="E6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13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"PINCH"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LANDMARKS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0" y="23317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MediaPipe gives us (x, y, z)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each joint, in [0, 1].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0" y="342900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finger is extended when its tip y is above its PIP joint. </a:t>
            </a:r>
            <a:pPr indent="0" marL="0">
              <a:buNone/>
            </a:pPr>
            <a:r>
              <a:rPr lang="en-US" sz="14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thumb uses x-axis comparison and is mirrored for the left hand. </a:t>
            </a:r>
            <a:pPr indent="0" marL="0">
              <a:buNone/>
            </a:pPr>
            <a:r>
              <a:rPr lang="en-US" sz="14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 is a Euclidean distance check, </a:t>
            </a:r>
            <a:pPr indent="0" marL="0">
              <a:buNone/>
            </a:pPr>
            <a:r>
              <a:rPr lang="en-US" sz="14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by index-extension to prevent fist misfire.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Gesture HCI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DEBOUNCING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action modes, one mapper.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5577840" cy="411480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ONE-SHOT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Fires once per gesture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debounce window (default 0.55 s) before the same gesture can fire again. Holding a fist won't spam pause/play.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FOR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pause/play   ·   click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5577840" cy="411480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Fires every interval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0" y="30175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0.04 s = 25 actions/second. Holding 'point' moves the cursor smoothly; holding 'thumb up' ramps volume.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FOR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4572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cursor   ·   scroll   ·   volume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Gesture HCI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·  CODE LAYOUT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files. ~300 lines. Plain Python.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1247120" cy="420624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2258568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0" y="2148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+ arg parsing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76148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35040" y="2651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dependencies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2960" y="3154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app/webcam_app.py</a:t>
            </a:r>
            <a:endParaRPr lang="en-US" sz="16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264408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35040" y="3154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loop + HUD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22960" y="3657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src/hand_tracking.py</a:t>
            </a:r>
            <a:endParaRPr lang="en-US" sz="16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3767328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35040" y="3657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wrapper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822960" y="4160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src/gesture_classifier.py</a:t>
            </a:r>
            <a:endParaRPr lang="en-US" sz="16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4270248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035040" y="4160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rules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822960" y="4663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src/gesture_mapper.py</a:t>
            </a:r>
            <a:endParaRPr lang="en-US" sz="16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4773168"/>
            <a:ext cx="182880" cy="1828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035040" y="4663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→ action + debounce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822960" y="5166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src/system_control.py</a:t>
            </a:r>
            <a:endParaRPr lang="en-US" sz="16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5276088"/>
            <a:ext cx="182880" cy="1828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035040" y="5166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event dispatch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Gesture HCI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· 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on a laptop CPU.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80060" y="2194560"/>
            <a:ext cx="2697480" cy="219456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0060" y="25603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80060" y="3429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2940" y="37947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1280×720, single hand, no GPU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14700" y="2194560"/>
            <a:ext cx="2697480" cy="219456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4700" y="25603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497580" y="37947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gestures recognised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49340" y="2194560"/>
            <a:ext cx="2697480" cy="219456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9340" y="25603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~300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149340" y="3429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32220" y="37947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 size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83980" y="2194560"/>
            <a:ext cx="2697480" cy="219456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83980" y="25603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9166860" y="37947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needed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Linux x86_64. Works on Windows and macOS without changes; Linux uses amixer for volume.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Gesture HCI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·  WHAT'S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Limits today, the path forward.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5577840" cy="411480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hand only.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gesture vocabulary.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and busy backgrounds reduce detection confidence.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frame-level smoothing — fast motion can flicker.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920240"/>
            <a:ext cx="5577840" cy="4114800"/>
          </a:xfrm>
          <a:prstGeom prst="rect">
            <a:avLst/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6060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12280" y="2560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filter over N-frame gesture window.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3832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12280" y="3337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MLP trained on labelled landmarks.</a:t>
            </a:r>
            <a:endParaRPr lang="en-US" sz="1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1605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1228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Two-hand support with separate vocabularies.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93776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12280" y="4892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config file — remap gestures at runtime.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Gesture HCI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E6E7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Try it.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clone, pip install, python main.py — that's the entire setup.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0"/>
            <a:ext cx="10881360" cy="0"/>
          </a:xfrm>
          <a:prstGeom prst="line">
            <a:avLst/>
          </a:prstGeom>
          <a:noFill/>
          <a:ln w="12700">
            <a:solidFill>
              <a:srgbClr val="2A2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github.com/T-X-4096/Human-Gesture-HCI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 Gesture HCI  ·  v1.0  ·  T-X-4096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 Gesture HCI</dc:title>
  <dc:subject>PptxGenJS Presentation</dc:subject>
  <dc:creator>T-X-4096</dc:creator>
  <cp:lastModifiedBy>T-X-4096</cp:lastModifiedBy>
  <cp:revision>1</cp:revision>
  <dcterms:created xsi:type="dcterms:W3CDTF">2026-05-04T15:22:00Z</dcterms:created>
  <dcterms:modified xsi:type="dcterms:W3CDTF">2026-05-04T15:22:00Z</dcterms:modified>
</cp:coreProperties>
</file>